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" pitchFamily="2" charset="77"/>
      <p:regular r:id="rId11"/>
      <p:bold r:id="rId12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597"/>
  </p:normalViewPr>
  <p:slideViewPr>
    <p:cSldViewPr snapToGrid="0">
      <p:cViewPr varScale="1">
        <p:scale>
          <a:sx n="71" d="100"/>
          <a:sy n="71" d="100"/>
        </p:scale>
        <p:origin x="86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340298" y="7288873"/>
            <a:ext cx="5629701" cy="4114800"/>
          </a:xfrm>
          <a:custGeom>
            <a:avLst/>
            <a:gdLst/>
            <a:ahLst/>
            <a:cxnLst/>
            <a:rect l="l" t="t" r="r" b="b"/>
            <a:pathLst>
              <a:path w="5629701" h="4114800" extrusionOk="0">
                <a:moveTo>
                  <a:pt x="0" y="0"/>
                </a:moveTo>
                <a:lnTo>
                  <a:pt x="5629701" y="0"/>
                </a:lnTo>
                <a:lnTo>
                  <a:pt x="56297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3"/>
          <p:cNvSpPr txBox="1"/>
          <p:nvPr/>
        </p:nvSpPr>
        <p:spPr>
          <a:xfrm>
            <a:off x="2324100" y="3003287"/>
            <a:ext cx="14020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Converting Casual Riders to Annual Members: A Data-Driven Strategy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 rot="10800000">
            <a:off x="13998597" y="-1116673"/>
            <a:ext cx="5629701" cy="4114800"/>
          </a:xfrm>
          <a:custGeom>
            <a:avLst/>
            <a:gdLst/>
            <a:ahLst/>
            <a:cxnLst/>
            <a:rect l="l" t="t" r="r" b="b"/>
            <a:pathLst>
              <a:path w="5629701" h="4114800" extrusionOk="0">
                <a:moveTo>
                  <a:pt x="562970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629701" y="0"/>
                </a:lnTo>
                <a:lnTo>
                  <a:pt x="5629701" y="411480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4735256" y="3404957"/>
            <a:ext cx="12504994" cy="5853343"/>
          </a:xfrm>
          <a:custGeom>
            <a:avLst/>
            <a:gdLst/>
            <a:ahLst/>
            <a:cxnLst/>
            <a:rect l="l" t="t" r="r" b="b"/>
            <a:pathLst>
              <a:path w="12504994" h="5853343" extrusionOk="0">
                <a:moveTo>
                  <a:pt x="0" y="5853343"/>
                </a:moveTo>
                <a:lnTo>
                  <a:pt x="12276394" y="5853343"/>
                </a:lnTo>
                <a:cubicBezTo>
                  <a:pt x="12402647" y="5853343"/>
                  <a:pt x="12504994" y="5750995"/>
                  <a:pt x="12504994" y="5624743"/>
                </a:cubicBezTo>
                <a:lnTo>
                  <a:pt x="12504994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038225" y="1038225"/>
            <a:ext cx="12533568" cy="5550829"/>
          </a:xfrm>
          <a:custGeom>
            <a:avLst/>
            <a:gdLst/>
            <a:ahLst/>
            <a:cxnLst/>
            <a:rect l="l" t="t" r="r" b="b"/>
            <a:pathLst>
              <a:path w="12533568" h="5550829" extrusionOk="0">
                <a:moveTo>
                  <a:pt x="0" y="5550829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2533568" y="0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431635" y="4653062"/>
            <a:ext cx="7411758" cy="58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Contact: Eng. Luigi Tallarico</a:t>
            </a:r>
            <a:endParaRPr/>
          </a:p>
        </p:txBody>
      </p:sp>
      <p:pic>
        <p:nvPicPr>
          <p:cNvPr id="90" name="Google Shape;90;p13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7772400" y="5423759"/>
            <a:ext cx="3124200" cy="2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-5143828" y="3775901"/>
            <a:ext cx="7500795" cy="5482399"/>
          </a:xfrm>
          <a:custGeom>
            <a:avLst/>
            <a:gdLst/>
            <a:ahLst/>
            <a:cxnLst/>
            <a:rect l="l" t="t" r="r" b="b"/>
            <a:pathLst>
              <a:path w="7500795" h="5482399" extrusionOk="0">
                <a:moveTo>
                  <a:pt x="0" y="0"/>
                </a:moveTo>
                <a:lnTo>
                  <a:pt x="7500795" y="0"/>
                </a:lnTo>
                <a:lnTo>
                  <a:pt x="7500795" y="5482399"/>
                </a:lnTo>
                <a:lnTo>
                  <a:pt x="0" y="5482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4"/>
          <p:cNvSpPr txBox="1"/>
          <p:nvPr/>
        </p:nvSpPr>
        <p:spPr>
          <a:xfrm>
            <a:off x="3736355" y="2244868"/>
            <a:ext cx="10815285" cy="129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GOAL</a:t>
            </a:r>
            <a:endParaRPr/>
          </a:p>
        </p:txBody>
      </p:sp>
      <p:cxnSp>
        <p:nvCxnSpPr>
          <p:cNvPr id="97" name="Google Shape;97;p14"/>
          <p:cNvCxnSpPr/>
          <p:nvPr/>
        </p:nvCxnSpPr>
        <p:spPr>
          <a:xfrm>
            <a:off x="2505963" y="9258300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14"/>
          <p:cNvSpPr txBox="1"/>
          <p:nvPr/>
        </p:nvSpPr>
        <p:spPr>
          <a:xfrm>
            <a:off x="16682267" y="8870950"/>
            <a:ext cx="577033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16682267" y="426050"/>
            <a:ext cx="4583129" cy="3349851"/>
          </a:xfrm>
          <a:custGeom>
            <a:avLst/>
            <a:gdLst/>
            <a:ahLst/>
            <a:cxnLst/>
            <a:rect l="l" t="t" r="r" b="b"/>
            <a:pathLst>
              <a:path w="4583129" h="3349851" extrusionOk="0">
                <a:moveTo>
                  <a:pt x="0" y="0"/>
                </a:moveTo>
                <a:lnTo>
                  <a:pt x="4583129" y="0"/>
                </a:lnTo>
                <a:lnTo>
                  <a:pt x="4583129" y="3349851"/>
                </a:lnTo>
                <a:lnTo>
                  <a:pt x="0" y="3349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4"/>
          <p:cNvSpPr txBox="1"/>
          <p:nvPr/>
        </p:nvSpPr>
        <p:spPr>
          <a:xfrm>
            <a:off x="3059361" y="3543300"/>
            <a:ext cx="12169274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 annual memberships by converting casual riders through targeted marketing and service changes, based on 12 months of trip data (May 2025 – April 2026).</a:t>
            </a:r>
            <a:endParaRPr/>
          </a:p>
        </p:txBody>
      </p:sp>
      <p:pic>
        <p:nvPicPr>
          <p:cNvPr id="101" name="Google Shape;101;p14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15"/>
          <p:cNvCxnSpPr/>
          <p:nvPr/>
        </p:nvCxnSpPr>
        <p:spPr>
          <a:xfrm>
            <a:off x="2505963" y="9258300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7" name="Google Shape;107;p15"/>
          <p:cNvGrpSpPr/>
          <p:nvPr/>
        </p:nvGrpSpPr>
        <p:grpSpPr>
          <a:xfrm>
            <a:off x="1928930" y="1638300"/>
            <a:ext cx="14753400" cy="5968455"/>
            <a:chOff x="2200662" y="1714500"/>
            <a:chExt cx="14753400" cy="5968455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3733800" y="1714500"/>
              <a:ext cx="11101258" cy="1298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0" b="1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Executive Summary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2200662" y="3249855"/>
              <a:ext cx="14753400" cy="443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Char char="•"/>
              </a:pPr>
              <a:r>
                <a:rPr lang="en-US" sz="3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 source:</a:t>
              </a: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12 monthly CSV files (5.7M rows) from Cyclistic bike‑share</a:t>
              </a:r>
              <a:endParaRPr/>
            </a:p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Char char="•"/>
              </a:pPr>
              <a:r>
                <a:rPr lang="en-US" sz="3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Tools:</a:t>
              </a: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BigQuery SQL (data cleaning, transformation, aggregation) + Tableau Public (visualization)</a:t>
              </a:r>
              <a:r>
                <a:rPr lang="en-US" sz="3600"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Char char="•"/>
              </a:pPr>
              <a:r>
                <a:rPr lang="en-US" sz="3600" b="1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processing steps:</a:t>
              </a:r>
              <a:endParaRPr/>
            </a:p>
            <a:p>
              <a:pPr marL="914400" marR="0" lvl="1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ourier New"/>
                <a:buChar char="o"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Removed negative/zero and below-one-minute trip durations.</a:t>
              </a:r>
              <a:endParaRPr/>
            </a:p>
            <a:p>
              <a:pPr marL="914400" marR="0" lvl="1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ourier New"/>
                <a:buChar char="o"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Combined all months in one table.</a:t>
              </a:r>
              <a:endParaRPr/>
            </a:p>
            <a:p>
              <a:pPr marL="914400" marR="0" lvl="1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ourier New"/>
                <a:buChar char="o"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Calculated the average and the total ride length by rider type.</a:t>
              </a:r>
              <a:endParaRPr/>
            </a:p>
            <a:p>
              <a:pPr marL="914400" marR="0" lvl="1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ourier New"/>
                <a:buChar char="o"/>
              </a:pP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 queries to analyze weekly, monthly and seasonal </a:t>
              </a:r>
              <a:r>
                <a:rPr lang="en-US" sz="3600">
                  <a:latin typeface="Calibri"/>
                  <a:ea typeface="Calibri"/>
                  <a:cs typeface="Calibri"/>
                  <a:sym typeface="Calibri"/>
                </a:rPr>
                <a:t>behaviour</a:t>
              </a:r>
              <a:r>
                <a:rPr lang="en-US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</p:grpSp>
      <p:sp>
        <p:nvSpPr>
          <p:cNvPr id="110" name="Google Shape;110;p15"/>
          <p:cNvSpPr txBox="1"/>
          <p:nvPr/>
        </p:nvSpPr>
        <p:spPr>
          <a:xfrm>
            <a:off x="16682267" y="8870950"/>
            <a:ext cx="577033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id="111" name="Google Shape;111;p15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1859266" y="435800"/>
            <a:ext cx="1490233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Casual vs. Member – Weekly Patterns</a:t>
            </a:r>
            <a:endParaRPr/>
          </a:p>
        </p:txBody>
      </p:sp>
      <p:cxnSp>
        <p:nvCxnSpPr>
          <p:cNvPr id="117" name="Google Shape;117;p16"/>
          <p:cNvCxnSpPr/>
          <p:nvPr/>
        </p:nvCxnSpPr>
        <p:spPr>
          <a:xfrm>
            <a:off x="2505963" y="9718675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6"/>
          <p:cNvSpPr txBox="1"/>
          <p:nvPr/>
        </p:nvSpPr>
        <p:spPr>
          <a:xfrm>
            <a:off x="16263898" y="9331325"/>
            <a:ext cx="995402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119" name="Google Shape;119;p16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415334" y="2766168"/>
            <a:ext cx="80667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Causal riders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peak on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weekends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(Saturday - Sunday)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leisure and tourism.</a:t>
            </a:r>
            <a:b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Member riders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peak on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weekdays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(Monday - Friday)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commuting.</a:t>
            </a:r>
            <a:b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Actionable insights: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Weekend promotions would reach casuals effectively.</a:t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457200" y="1233782"/>
            <a:ext cx="8466667" cy="8271034"/>
            <a:chOff x="296333" y="1879241"/>
            <a:chExt cx="7933267" cy="7749959"/>
          </a:xfrm>
        </p:grpSpPr>
        <p:pic>
          <p:nvPicPr>
            <p:cNvPr id="122" name="Google Shape;122;p16" descr="A graph of a number of green and blue bars&#10;&#10;AI-generated content may be incorrect."/>
            <p:cNvPicPr preferRelativeResize="0"/>
            <p:nvPr/>
          </p:nvPicPr>
          <p:blipFill rotWithShape="1">
            <a:blip>
              <a:alphaModFix/>
            </a:blip>
            <a:srcRect r="15578"/>
            <a:stretch/>
          </p:blipFill>
          <p:spPr>
            <a:xfrm>
              <a:off x="296333" y="2751336"/>
              <a:ext cx="7933267" cy="6877864"/>
            </a:xfrm>
            <a:prstGeom prst="rect">
              <a:avLst/>
            </a:prstGeom>
            <a:noFill/>
            <a:ln>
              <a:noFill/>
            </a:ln>
            <a:effectLst>
              <a:outerShdw blurRad="292100" dist="139700" dir="2700000" algn="tl" rotWithShape="0">
                <a:srgbClr val="333333">
                  <a:alpha val="65098"/>
                </a:srgbClr>
              </a:outerShdw>
            </a:effectLst>
          </p:spPr>
        </p:pic>
        <p:pic>
          <p:nvPicPr>
            <p:cNvPr id="123" name="Google Shape;123;p16" descr="A graph of a number of green and blue bars&#10;&#10;AI-generated content may be incorrect."/>
            <p:cNvPicPr preferRelativeResize="0"/>
            <p:nvPr/>
          </p:nvPicPr>
          <p:blipFill rotWithShape="1">
            <a:blip>
              <a:alphaModFix/>
            </a:blip>
            <a:srcRect l="84314" t="5176" b="80090"/>
            <a:stretch/>
          </p:blipFill>
          <p:spPr>
            <a:xfrm>
              <a:off x="7010400" y="1879241"/>
              <a:ext cx="1219200" cy="838200"/>
            </a:xfrm>
            <a:prstGeom prst="rect">
              <a:avLst/>
            </a:prstGeom>
            <a:noFill/>
            <a:ln>
              <a:noFill/>
            </a:ln>
            <a:effectLst>
              <a:outerShdw blurRad="190500" algn="tl" rotWithShape="0">
                <a:srgbClr val="000000">
                  <a:alpha val="70196"/>
                </a:srgbClr>
              </a:outerShdw>
            </a:effec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1989567" y="568324"/>
            <a:ext cx="1490233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Seasonal Drop‑Off: Casuals Disappear in Winter</a:t>
            </a:r>
            <a:endParaRPr/>
          </a:p>
        </p:txBody>
      </p:sp>
      <p:cxnSp>
        <p:nvCxnSpPr>
          <p:cNvPr id="129" name="Google Shape;129;p17"/>
          <p:cNvCxnSpPr/>
          <p:nvPr/>
        </p:nvCxnSpPr>
        <p:spPr>
          <a:xfrm>
            <a:off x="2505963" y="9718675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17"/>
          <p:cNvSpPr txBox="1"/>
          <p:nvPr/>
        </p:nvSpPr>
        <p:spPr>
          <a:xfrm>
            <a:off x="16263898" y="9331325"/>
            <a:ext cx="995402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id="131" name="Google Shape;131;p17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001528" y="2328536"/>
            <a:ext cx="4439206" cy="6401753"/>
          </a:xfrm>
          <a:prstGeom prst="rect">
            <a:avLst/>
          </a:prstGeom>
          <a:blipFill rotWithShape="1">
            <a:blip>
              <a:alphaModFix/>
            </a:blip>
            <a:stretch>
              <a:fillRect l="-5128" t="-1980" r="-4843" b="-27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33" name="Google Shape;133;p17" descr="A graph of a graph of a graph&#10;&#10;AI-generated content may be incorrect."/>
          <p:cNvPicPr preferRelativeResize="0"/>
          <p:nvPr/>
        </p:nvPicPr>
        <p:blipFill rotWithShape="1">
          <a:blip>
            <a:alphaModFix/>
          </a:blip>
          <a:srcRect r="14597"/>
          <a:stretch/>
        </p:blipFill>
        <p:spPr>
          <a:xfrm>
            <a:off x="10027672" y="2409372"/>
            <a:ext cx="7947971" cy="666960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34" name="Google Shape;134;p17" descr="A screenshot of a graph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279400" y="2009696"/>
            <a:ext cx="4439206" cy="738913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pic>
        <p:nvPicPr>
          <p:cNvPr id="135" name="Google Shape;135;p17" descr="A graph of a number of green and blue bars&#10;&#10;AI-generated content may be incorrect."/>
          <p:cNvPicPr preferRelativeResize="0"/>
          <p:nvPr/>
        </p:nvPicPr>
        <p:blipFill rotWithShape="1">
          <a:blip>
            <a:alphaModFix/>
          </a:blip>
          <a:srcRect l="84314" t="5176" b="80090"/>
          <a:stretch/>
        </p:blipFill>
        <p:spPr>
          <a:xfrm>
            <a:off x="16674469" y="1433979"/>
            <a:ext cx="1301174" cy="89455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2278366" y="632717"/>
            <a:ext cx="1448323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Long Do They Ride? Casuals Take Longer Trips</a:t>
            </a:r>
            <a:endParaRPr/>
          </a:p>
        </p:txBody>
      </p:sp>
      <p:pic>
        <p:nvPicPr>
          <p:cNvPr id="141" name="Google Shape;141;p18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A graph of a number of green and blue bars&#10;&#10;AI-generated content may be incorrect."/>
          <p:cNvPicPr preferRelativeResize="0"/>
          <p:nvPr/>
        </p:nvPicPr>
        <p:blipFill rotWithShape="1">
          <a:blip>
            <a:alphaModFix/>
          </a:blip>
          <a:srcRect l="84314" t="5176" b="80090"/>
          <a:stretch/>
        </p:blipFill>
        <p:spPr>
          <a:xfrm>
            <a:off x="7790161" y="1745216"/>
            <a:ext cx="1301174" cy="89455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  <p:cxnSp>
        <p:nvCxnSpPr>
          <p:cNvPr id="143" name="Google Shape;143;p18"/>
          <p:cNvCxnSpPr/>
          <p:nvPr/>
        </p:nvCxnSpPr>
        <p:spPr>
          <a:xfrm>
            <a:off x="2505963" y="9718675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18"/>
          <p:cNvSpPr txBox="1"/>
          <p:nvPr/>
        </p:nvSpPr>
        <p:spPr>
          <a:xfrm>
            <a:off x="16263898" y="9331325"/>
            <a:ext cx="995402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pic>
        <p:nvPicPr>
          <p:cNvPr id="145" name="Google Shape;145;p18" descr="A screenshot of a computer&#10;&#10;AI-generated content may be incorrect."/>
          <p:cNvPicPr preferRelativeResize="0"/>
          <p:nvPr/>
        </p:nvPicPr>
        <p:blipFill rotWithShape="1">
          <a:blip>
            <a:alphaModFix/>
          </a:blip>
          <a:srcRect r="64297"/>
          <a:stretch/>
        </p:blipFill>
        <p:spPr>
          <a:xfrm>
            <a:off x="2005006" y="1745216"/>
            <a:ext cx="5562600" cy="777978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46" name="Google Shape;146;p18"/>
          <p:cNvSpPr txBox="1"/>
          <p:nvPr/>
        </p:nvSpPr>
        <p:spPr>
          <a:xfrm>
            <a:off x="8627106" y="3575883"/>
            <a:ext cx="8134493" cy="4431983"/>
          </a:xfrm>
          <a:prstGeom prst="rect">
            <a:avLst/>
          </a:prstGeom>
          <a:blipFill rotWithShape="1">
            <a:blip>
              <a:alphaModFix/>
            </a:blip>
            <a:stretch>
              <a:fillRect l="-2964" t="-2857" r="-18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/>
        </p:nvSpPr>
        <p:spPr>
          <a:xfrm>
            <a:off x="2585893" y="618412"/>
            <a:ext cx="13116213" cy="252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 Phase: </a:t>
            </a:r>
            <a:endParaRPr dirty="0"/>
          </a:p>
          <a:p>
            <a:pPr marL="0" marR="0" lvl="0" indent="0" algn="ctr" rtl="0">
              <a:lnSpc>
                <a:spcPct val="238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3 Recommendations to convert Casuals</a:t>
            </a:r>
            <a:endParaRPr dirty="0"/>
          </a:p>
        </p:txBody>
      </p:sp>
      <p:grpSp>
        <p:nvGrpSpPr>
          <p:cNvPr id="152" name="Google Shape;152;p19"/>
          <p:cNvGrpSpPr/>
          <p:nvPr/>
        </p:nvGrpSpPr>
        <p:grpSpPr>
          <a:xfrm>
            <a:off x="1171836" y="3980434"/>
            <a:ext cx="4519784" cy="3601466"/>
            <a:chOff x="1269296" y="3955746"/>
            <a:chExt cx="5114849" cy="3601466"/>
          </a:xfrm>
        </p:grpSpPr>
        <p:sp>
          <p:nvSpPr>
            <p:cNvPr id="153" name="Google Shape;153;p19"/>
            <p:cNvSpPr txBox="1"/>
            <p:nvPr/>
          </p:nvSpPr>
          <p:spPr>
            <a:xfrm>
              <a:off x="1269296" y="5598342"/>
              <a:ext cx="5114849" cy="1958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marR="0" lvl="0" indent="-34290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lang="en-US" sz="21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Offer a lower‑cost membership valid only on Saturdays and Sundays.</a:t>
              </a:r>
              <a:endParaRPr dirty="0"/>
            </a:p>
            <a:p>
              <a:pPr marL="342900" marR="0" lvl="0" indent="-203264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99"/>
                <a:buFont typeface="Arial"/>
                <a:buNone/>
              </a:pPr>
              <a:endParaRPr sz="2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lang="en-US" sz="21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Promote via social media on Friday afternoons.</a:t>
              </a:r>
              <a:endParaRPr dirty="0"/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1269296" y="3955746"/>
              <a:ext cx="5114849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01 - Weekend‑only pass 🗓️</a:t>
              </a:r>
              <a:endParaRPr lang="en-US" dirty="0"/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6884107" y="3986952"/>
            <a:ext cx="4519784" cy="3975948"/>
            <a:chOff x="7410374" y="3982719"/>
            <a:chExt cx="4519784" cy="3975948"/>
          </a:xfrm>
        </p:grpSpPr>
        <p:sp>
          <p:nvSpPr>
            <p:cNvPr id="156" name="Google Shape;156;p19"/>
            <p:cNvSpPr txBox="1"/>
            <p:nvPr/>
          </p:nvSpPr>
          <p:spPr>
            <a:xfrm>
              <a:off x="7410374" y="5602253"/>
              <a:ext cx="4519784" cy="2356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marR="0" lvl="0" indent="-34290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lang="en-US" sz="21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Discounted 3‑month membership (Dec–Feb) with hot beverage vouchers.</a:t>
              </a:r>
              <a:endParaRPr dirty="0"/>
            </a:p>
            <a:p>
              <a:pPr marL="342900" marR="0" lvl="0" indent="-203264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99"/>
                <a:buFont typeface="Arial"/>
                <a:buNone/>
              </a:pPr>
              <a:endParaRPr sz="2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lang="en-US" sz="21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Target casuals who rode in autumn but stopped in winter.</a:t>
              </a:r>
              <a:endParaRPr dirty="0"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7410374" y="3982719"/>
              <a:ext cx="4519784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02 - Winter warm‑up membership ❄️</a:t>
              </a:r>
              <a:endParaRPr dirty="0"/>
            </a:p>
          </p:txBody>
        </p:sp>
      </p:grpSp>
      <p:pic>
        <p:nvPicPr>
          <p:cNvPr id="158" name="Google Shape;158;p19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9"/>
          <p:cNvGrpSpPr/>
          <p:nvPr/>
        </p:nvGrpSpPr>
        <p:grpSpPr>
          <a:xfrm>
            <a:off x="12772764" y="3980434"/>
            <a:ext cx="4343400" cy="3982466"/>
            <a:chOff x="13258800" y="3980434"/>
            <a:chExt cx="4343400" cy="3982466"/>
          </a:xfrm>
        </p:grpSpPr>
        <p:sp>
          <p:nvSpPr>
            <p:cNvPr id="160" name="Google Shape;160;p19"/>
            <p:cNvSpPr txBox="1"/>
            <p:nvPr/>
          </p:nvSpPr>
          <p:spPr>
            <a:xfrm>
              <a:off x="13258800" y="5606486"/>
              <a:ext cx="4343400" cy="2356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42900" marR="0" lvl="0" indent="-34290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lang="en-US" sz="21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 long‑ride casuals: every 5th ride free if they join as a member.</a:t>
              </a:r>
              <a:endParaRPr dirty="0"/>
            </a:p>
            <a:p>
              <a:pPr marL="0" marR="0" lvl="0" indent="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342900" marR="0" lvl="0" indent="-342900" algn="l" rtl="0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Char char="•"/>
              </a:pPr>
              <a:r>
                <a:rPr lang="en-US" sz="2199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Highlight “ride twice as long for half the price” messaging.</a:t>
              </a:r>
              <a:endParaRPr dirty="0"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13258800" y="3980434"/>
              <a:ext cx="4343400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03 - Leisure loyalty </a:t>
              </a:r>
              <a:r>
                <a:rPr lang="en-US" sz="3200" b="1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programme</a:t>
              </a:r>
              <a:r>
                <a:rPr lang="en-US" sz="3200" b="1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🏆</a:t>
              </a:r>
              <a:endParaRPr dirty="0"/>
            </a:p>
          </p:txBody>
        </p:sp>
      </p:grpSp>
      <p:cxnSp>
        <p:nvCxnSpPr>
          <p:cNvPr id="162" name="Google Shape;162;p19"/>
          <p:cNvCxnSpPr/>
          <p:nvPr/>
        </p:nvCxnSpPr>
        <p:spPr>
          <a:xfrm>
            <a:off x="2505963" y="9718675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19"/>
          <p:cNvSpPr txBox="1"/>
          <p:nvPr/>
        </p:nvSpPr>
        <p:spPr>
          <a:xfrm>
            <a:off x="16263898" y="9331325"/>
            <a:ext cx="995402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D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-5143828" y="3775901"/>
            <a:ext cx="7500795" cy="5482399"/>
          </a:xfrm>
          <a:custGeom>
            <a:avLst/>
            <a:gdLst/>
            <a:ahLst/>
            <a:cxnLst/>
            <a:rect l="l" t="t" r="r" b="b"/>
            <a:pathLst>
              <a:path w="7500795" h="5482399" extrusionOk="0">
                <a:moveTo>
                  <a:pt x="0" y="0"/>
                </a:moveTo>
                <a:lnTo>
                  <a:pt x="7500795" y="0"/>
                </a:lnTo>
                <a:lnTo>
                  <a:pt x="7500795" y="5482399"/>
                </a:lnTo>
                <a:lnTo>
                  <a:pt x="0" y="5482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9" name="Google Shape;169;p20"/>
          <p:cNvSpPr txBox="1"/>
          <p:nvPr/>
        </p:nvSpPr>
        <p:spPr>
          <a:xfrm>
            <a:off x="3802838" y="3423476"/>
            <a:ext cx="10682323" cy="218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16682267" y="426050"/>
            <a:ext cx="4583129" cy="3349851"/>
          </a:xfrm>
          <a:custGeom>
            <a:avLst/>
            <a:gdLst/>
            <a:ahLst/>
            <a:cxnLst/>
            <a:rect l="l" t="t" r="r" b="b"/>
            <a:pathLst>
              <a:path w="4583129" h="3349851" extrusionOk="0">
                <a:moveTo>
                  <a:pt x="0" y="0"/>
                </a:moveTo>
                <a:lnTo>
                  <a:pt x="4583129" y="0"/>
                </a:lnTo>
                <a:lnTo>
                  <a:pt x="4583129" y="3349851"/>
                </a:lnTo>
                <a:lnTo>
                  <a:pt x="0" y="3349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71" name="Google Shape;171;p20" descr="A blue circle with a person riding a bicycle&#10;&#10;AI-generated content may be incorrect.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304800" y="344559"/>
            <a:ext cx="1734073" cy="1536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0"/>
          <p:cNvCxnSpPr/>
          <p:nvPr/>
        </p:nvCxnSpPr>
        <p:spPr>
          <a:xfrm>
            <a:off x="2505963" y="9718675"/>
            <a:ext cx="13869542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20"/>
          <p:cNvSpPr txBox="1"/>
          <p:nvPr/>
        </p:nvSpPr>
        <p:spPr>
          <a:xfrm>
            <a:off x="16263898" y="9331325"/>
            <a:ext cx="995402" cy="68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Macintosh PowerPoint</Application>
  <PresentationFormat>Custom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Courier New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Luigi Tallarico</cp:lastModifiedBy>
  <cp:revision>1</cp:revision>
  <dcterms:modified xsi:type="dcterms:W3CDTF">2026-06-10T09:10:59Z</dcterms:modified>
</cp:coreProperties>
</file>